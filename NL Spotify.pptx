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file:///c:/Users/sgt17/Downloads/NL_Spotify/data/analysis_report.md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file:///C:/Users/sgt17/.gemini/antigravity-ide/brain/2c2d707d-e560-4883-8e9e-77dcceab626a/user_research_validation.md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://localhost:8501" TargetMode="External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://localhost:8502" TargetMode="External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2"/>
          </a:solidFill>
          <a:ln>
            <a:solidFill>
              <a:srgbClr val="121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potify_deck_cover_17831464490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0" y="1645920"/>
            <a:ext cx="5790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3600" b="1">
                <a:solidFill>
                  <a:srgbClr val="FFFFFF"/>
                </a:solidFill>
                <a:latin typeface="Outfit"/>
              </a:defRPr>
            </a:pPr>
            <a:r>
              <a:t>Escaping the Loop:</a:t>
            </a:r>
            <a:br/>
            <a:r>
              <a:t>Re-imagining Spotify Music Discovery</a:t>
            </a:r>
          </a:p>
          <a:p>
            <a:pPr>
              <a:spcAft>
                <a:spcPts val="4000"/>
              </a:spcAft>
              <a:defRPr sz="1800">
                <a:solidFill>
                  <a:srgbClr val="1DB954"/>
                </a:solidFill>
                <a:latin typeface="Inter"/>
              </a:defRPr>
            </a:pPr>
            <a:r>
              <a:t>Building the AI-Native Discovery Co-Pilot to Reduce Repetitive Listening Behavior</a:t>
            </a:r>
          </a:p>
          <a:p>
            <a:pPr>
              <a:defRPr sz="1400">
                <a:solidFill>
                  <a:srgbClr val="B3B3B3"/>
                </a:solidFill>
                <a:latin typeface="Inter"/>
              </a:defRPr>
            </a:pPr>
            <a:r>
              <a:t>Prepared by: Growth Team Product Manager</a:t>
            </a:r>
            <a:br/>
            <a:r>
              <a:t>Supporting Artifacts Hyperlinked Inside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2"/>
          </a:solidFill>
          <a:ln>
            <a:solidFill>
              <a:srgbClr val="121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Outfit"/>
              </a:defRPr>
            </a:pPr>
            <a:r>
              <a:t>Aesthetic Fatigue Drives Premium Churn and Stagnates Engagement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371600" cy="36576"/>
          </a:xfrm>
          <a:prstGeom prst="rect">
            <a:avLst/>
          </a:prstGeom>
          <a:solidFill>
            <a:srgbClr val="1DB954"/>
          </a:solidFill>
          <a:ln>
            <a:solidFill>
              <a:srgbClr val="1DB9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5394960" cy="4572000"/>
          </a:xfrm>
          <a:prstGeom prst="roundRect">
            <a:avLst/>
          </a:prstGeom>
          <a:solidFill>
            <a:srgbClr val="181818"/>
          </a:solidFill>
          <a:ln w="1270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 b="1">
                <a:solidFill>
                  <a:srgbClr val="1DB954"/>
                </a:solidFill>
              </a:defRPr>
            </a:pPr>
            <a:r>
              <a:t>The Discovery Paradox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</a:defRPr>
            </a:pPr>
            <a:r>
              <a:t>•  A significant share of streams originates from repeat playlists, familiar artists, and previously discovered songs.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</a:defRPr>
            </a:pPr>
            <a:r>
              <a:t>•  Hyper-personalization is generating closed 'filter bubbles' where algorithms play safe, identical subsets of user libraries.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</a:defRPr>
            </a:pPr>
            <a:r>
              <a:t>•  Users actively seek discovery but retreat to repetitive habits due to high curation friction and black-box layouts.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</a:defRPr>
            </a:pPr>
            <a:r>
              <a:t>•  Solving this unlocks organic virality (sharing new finds) and mitigates customer retention threats.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394960" cy="2103120"/>
          </a:xfrm>
          <a:prstGeom prst="roundRect">
            <a:avLst/>
          </a:prstGeom>
          <a:solidFill>
            <a:srgbClr val="181818"/>
          </a:solidFill>
          <a:ln w="1270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82880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FFFFFF"/>
                </a:solidFill>
              </a:defRPr>
            </a:pPr>
            <a:r>
              <a:t>The Churn Threat</a:t>
            </a:r>
          </a:p>
          <a:p>
            <a:pPr>
              <a:defRPr sz="1400">
                <a:solidFill>
                  <a:srgbClr val="B3B3B3"/>
                </a:solidFill>
              </a:defRPr>
            </a:pPr>
            <a:r>
              <a:t>• Daily Premium listeners experience 'aesthetic boredom' from repetitive loops, motivating them to switch to competitors (Apple Music, YouTube Music) or search manually on Bandcamp/SoundCloud.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4114800"/>
            <a:ext cx="5394960" cy="2103120"/>
          </a:xfrm>
          <a:prstGeom prst="roundRect">
            <a:avLst/>
          </a:prstGeom>
          <a:solidFill>
            <a:srgbClr val="181818"/>
          </a:solidFill>
          <a:ln w="1270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429768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FFFFFF"/>
                </a:solidFill>
              </a:defRPr>
            </a:pPr>
            <a:r>
              <a:t>The AI-Native Solution</a:t>
            </a:r>
          </a:p>
          <a:p>
            <a:pPr>
              <a:defRPr sz="1400">
                <a:solidFill>
                  <a:srgbClr val="B3B3B3"/>
                </a:solidFill>
              </a:defRPr>
            </a:pPr>
            <a:r>
              <a:t>• Move away from passive recommendation structures. Give users interactive inputs (Discovery Intensity dial and Niche Boost filters) back-ended by LLM-semantic matching to rebuild platform trust.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2"/>
          </a:solidFill>
          <a:ln>
            <a:solidFill>
              <a:srgbClr val="121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Outfit"/>
              </a:defRPr>
            </a:pPr>
            <a:r>
              <a:t>User Reviews Reveal Polarized Sentiment Driven by Shuffle Loops and Ad Friction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371600" cy="36576"/>
          </a:xfrm>
          <a:prstGeom prst="rect">
            <a:avLst/>
          </a:prstGeom>
          <a:solidFill>
            <a:srgbClr val="1DB954"/>
          </a:solidFill>
          <a:ln>
            <a:solidFill>
              <a:srgbClr val="1DB9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3474720" cy="4389120"/>
          </a:xfrm>
          <a:prstGeom prst="roundRect">
            <a:avLst/>
          </a:prstGeom>
          <a:solidFill>
            <a:srgbClr val="181818"/>
          </a:solidFill>
          <a:ln w="1270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3108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800" b="1">
                <a:solidFill>
                  <a:srgbClr val="1DB954"/>
                </a:solidFill>
              </a:defRPr>
            </a:pPr>
            <a:r>
              <a:t>Feedback Overview</a:t>
            </a:r>
          </a:p>
          <a:p>
            <a:pPr>
              <a:defRPr sz="4400" b="1">
                <a:solidFill>
                  <a:srgbClr val="FFFFFF"/>
                </a:solidFill>
              </a:defRPr>
            </a:pPr>
            <a:r>
              <a:t>55%</a:t>
            </a:r>
          </a:p>
          <a:p>
            <a:pPr>
              <a:spcAft>
                <a:spcPts val="2000"/>
              </a:spcAft>
              <a:defRPr sz="1400">
                <a:solidFill>
                  <a:srgbClr val="B3B3B3"/>
                </a:solidFill>
              </a:defRPr>
            </a:pPr>
            <a:r>
              <a:t>Positive Sentiment (Vast library catalog, concept satisfaction)</a:t>
            </a:r>
          </a:p>
          <a:p>
            <a:pPr>
              <a:defRPr sz="4400" b="1">
                <a:solidFill>
                  <a:srgbClr val="FFFFFF"/>
                </a:solidFill>
              </a:defRPr>
            </a:pPr>
            <a:r>
              <a:t>35%</a:t>
            </a:r>
          </a:p>
          <a:p>
            <a:pPr>
              <a:defRPr sz="1400">
                <a:solidFill>
                  <a:srgbClr val="B3B3B3"/>
                </a:solidFill>
              </a:defRPr>
            </a:pPr>
            <a:r>
              <a:t>Negative Sentiment (Shuffle repetition, smart shuffle bias, ads)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7315200" cy="4389120"/>
          </a:xfrm>
          <a:prstGeom prst="roundRect">
            <a:avLst/>
          </a:prstGeom>
          <a:solidFill>
            <a:srgbClr val="181818"/>
          </a:solidFill>
          <a:ln w="1270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1920240"/>
            <a:ext cx="6766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 b="1">
                <a:solidFill>
                  <a:srgbClr val="FFFFFF"/>
                </a:solidFill>
              </a:defRPr>
            </a:pPr>
            <a:r>
              <a:t>Dominant Review Themes &amp; Core Complaints</a:t>
            </a:r>
          </a:p>
          <a:p>
            <a:pPr>
              <a:spcAft>
                <a:spcPts val="800"/>
              </a:spcAft>
              <a:defRPr sz="1400">
                <a:solidFill>
                  <a:srgbClr val="B3B3B3"/>
                </a:solidFill>
              </a:defRPr>
            </a:pPr>
            <a:r>
              <a:t>•  The Shuffle Loop: Users report that even with 1,000+ song playlists, the shuffle feature cycles through the 'same fifty songs' repeatedly, ignoring saved gems.</a:t>
            </a:r>
          </a:p>
          <a:p>
            <a:pPr>
              <a:spcAft>
                <a:spcPts val="800"/>
              </a:spcAft>
              <a:defRPr sz="1400">
                <a:solidFill>
                  <a:srgbClr val="B3B3B3"/>
                </a:solidFill>
              </a:defRPr>
            </a:pPr>
            <a:r>
              <a:t>•  Smart Shuffle Intrusion: Free and paying users criticize Smart Shuffle for injecting unwanted, repetitive pop songs that clash with the playlist's specific vibe.</a:t>
            </a:r>
          </a:p>
          <a:p>
            <a:pPr>
              <a:spcAft>
                <a:spcPts val="800"/>
              </a:spcAft>
              <a:defRPr sz="1400">
                <a:solidFill>
                  <a:srgbClr val="B3B3B3"/>
                </a:solidFill>
              </a:defRPr>
            </a:pPr>
            <a:r>
              <a:t>•  UI Overload: Intrusion of non-music content (podcasts, audiobooks) on the home screen increases browsing friction and drives users to loop cached favorites.</a:t>
            </a:r>
          </a:p>
          <a:p>
            <a:pPr>
              <a:spcAft>
                <a:spcPts val="800"/>
              </a:spcAft>
              <a:defRPr sz="1400">
                <a:solidFill>
                  <a:srgbClr val="B3B3B3"/>
                </a:solidFill>
              </a:defRPr>
            </a:pPr>
            <a:r>
              <a:t>•  Review Analysis Workflow: Supported by our dynamic analysis workspace.</a:t>
            </a:r>
          </a:p>
          <a:p>
            <a:pPr>
              <a:spcBef>
                <a:spcPts val="1500"/>
              </a:spcBef>
              <a:defRPr sz="1400">
                <a:solidFill>
                  <a:srgbClr val="FFFFFF"/>
                </a:solidFill>
              </a:defRPr>
            </a:pPr>
            <a:r>
              <a:t>Read Full Feedback Database and PM Report: </a:t>
            </a:r>
            <a:r>
              <a:rPr sz="1400" b="1">
                <a:solidFill>
                  <a:srgbClr val="1DB954"/>
                </a:solidFill>
                <a:hlinkClick r:id="rId2"/>
              </a:rPr>
              <a:t>analysis_report.md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2"/>
          </a:solidFill>
          <a:ln>
            <a:solidFill>
              <a:srgbClr val="121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Outfit"/>
              </a:defRPr>
            </a:pPr>
            <a:r>
              <a:t>Curators and Specialists Face Different Discovery Barriers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371600" cy="36576"/>
          </a:xfrm>
          <a:prstGeom prst="rect">
            <a:avLst/>
          </a:prstGeom>
          <a:solidFill>
            <a:srgbClr val="1DB954"/>
          </a:solidFill>
          <a:ln>
            <a:solidFill>
              <a:srgbClr val="1DB9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3474720" cy="4206240"/>
          </a:xfrm>
          <a:prstGeom prst="roundRect">
            <a:avLst/>
          </a:prstGeom>
          <a:solidFill>
            <a:srgbClr val="181818"/>
          </a:solidFill>
          <a:ln w="1270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3108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800" b="1">
                <a:solidFill>
                  <a:srgbClr val="1DB954"/>
                </a:solidFill>
              </a:defRPr>
            </a:pPr>
            <a:r>
              <a:t>Sarah, 28</a:t>
            </a:r>
            <a:br/>
            <a:r>
              <a:t>The Playlist Curator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</a:defRPr>
            </a:pPr>
            <a:r>
              <a:t>• Manages massive custom playlists (1,500+ tracks).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</a:defRPr>
            </a:pPr>
            <a:r>
              <a:t>• Frustration: Shuffle loops on a tiny fraction of songs. Smart Shuffle injects commercial pop that ruins the vibe.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</a:defRPr>
            </a:pPr>
            <a:r>
              <a:t>• Workaround: Uses Shazam in public or scans external blogs, then manually inputs songs to Spotify.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645920"/>
            <a:ext cx="3474720" cy="4206240"/>
          </a:xfrm>
          <a:prstGeom prst="roundRect">
            <a:avLst/>
          </a:prstGeom>
          <a:solidFill>
            <a:srgbClr val="181818"/>
          </a:solidFill>
          <a:ln w="1270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828800"/>
            <a:ext cx="3108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800" b="1">
                <a:solidFill>
                  <a:srgbClr val="FFFFFF"/>
                </a:solidFill>
              </a:defRPr>
            </a:pPr>
            <a:r>
              <a:t>Marcus, 34</a:t>
            </a:r>
            <a:br/>
            <a:r>
              <a:t>The Genre Specialist</a:t>
            </a:r>
          </a:p>
          <a:p>
            <a:pPr>
              <a:spcAft>
                <a:spcPts val="1000"/>
              </a:spcAft>
              <a:defRPr sz="1400">
                <a:solidFill>
                  <a:srgbClr val="B3B3B3"/>
                </a:solidFill>
              </a:defRPr>
            </a:pPr>
            <a:r>
              <a:t>• Listens to niche genres (ambient electronica, indie jazz).</a:t>
            </a:r>
          </a:p>
          <a:p>
            <a:pPr>
              <a:spcAft>
                <a:spcPts val="1000"/>
              </a:spcAft>
              <a:defRPr sz="1400">
                <a:solidFill>
                  <a:srgbClr val="B3B3B3"/>
                </a:solidFill>
              </a:defRPr>
            </a:pPr>
            <a:r>
              <a:t>• Frustration: Spotify recommends generic, major-label crossover pop. AI DJ transitions are jarring and disrupt flow.</a:t>
            </a:r>
          </a:p>
          <a:p>
            <a:pPr>
              <a:spcAft>
                <a:spcPts val="1000"/>
              </a:spcAft>
              <a:defRPr sz="1400">
                <a:solidFill>
                  <a:srgbClr val="B3B3B3"/>
                </a:solidFill>
              </a:defRPr>
            </a:pPr>
            <a:r>
              <a:t>• Workaround: Discovers new music on Bandcamp/SoundCloud, then streams on Spotify only as player.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645920"/>
            <a:ext cx="3474720" cy="4206240"/>
          </a:xfrm>
          <a:prstGeom prst="roundRect">
            <a:avLst/>
          </a:prstGeom>
          <a:solidFill>
            <a:srgbClr val="181818"/>
          </a:solidFill>
          <a:ln w="1270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1828800"/>
            <a:ext cx="3108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800" b="1">
                <a:solidFill>
                  <a:srgbClr val="FFFFFF"/>
                </a:solidFill>
              </a:defRPr>
            </a:pPr>
            <a:r>
              <a:t>Priya, 22</a:t>
            </a:r>
            <a:br/>
            <a:r>
              <a:t>The Casual Discoverer</a:t>
            </a:r>
          </a:p>
          <a:p>
            <a:pPr>
              <a:spcAft>
                <a:spcPts val="1000"/>
              </a:spcAft>
              <a:defRPr sz="1400">
                <a:solidFill>
                  <a:srgbClr val="B3B3B3"/>
                </a:solidFill>
              </a:defRPr>
            </a:pPr>
            <a:r>
              <a:t>• Relies on background music (Daily Mixes) for focus.</a:t>
            </a:r>
          </a:p>
          <a:p>
            <a:pPr>
              <a:spcAft>
                <a:spcPts val="1000"/>
              </a:spcAft>
              <a:defRPr sz="1400">
                <a:solidFill>
                  <a:srgbClr val="B3B3B3"/>
                </a:solidFill>
              </a:defRPr>
            </a:pPr>
            <a:r>
              <a:t>• Frustration: Daily Mixes become static loops repeating liked songs instead of suggesting new releases.</a:t>
            </a:r>
          </a:p>
          <a:p>
            <a:pPr>
              <a:spcAft>
                <a:spcPts val="1000"/>
              </a:spcAft>
              <a:defRPr sz="1400">
                <a:solidFill>
                  <a:srgbClr val="B3B3B3"/>
                </a:solidFill>
              </a:defRPr>
            </a:pPr>
            <a:r>
              <a:t>• Workaround: Overcome by decision fatigue, she accepts repetitive streams because active discovery is painful.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9436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Access Primary Research and Interview Transcripts: </a:t>
            </a:r>
            <a:r>
              <a:rPr sz="1400" b="1">
                <a:solidFill>
                  <a:srgbClr val="1DB954"/>
                </a:solidFill>
                <a:hlinkClick r:id="rId2"/>
              </a:rPr>
              <a:t>user_research_validation.md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2"/>
          </a:solidFill>
          <a:ln>
            <a:solidFill>
              <a:srgbClr val="121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Outfit"/>
              </a:defRPr>
            </a:pPr>
            <a:r>
              <a:t>Algorithmic Feedback Loops and UX Clutter Root Cause Stagnation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371600" cy="36576"/>
          </a:xfrm>
          <a:prstGeom prst="rect">
            <a:avLst/>
          </a:prstGeom>
          <a:solidFill>
            <a:srgbClr val="1DB954"/>
          </a:solidFill>
          <a:ln>
            <a:solidFill>
              <a:srgbClr val="1DB9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3474720" cy="4389120"/>
          </a:xfrm>
          <a:prstGeom prst="roundRect">
            <a:avLst/>
          </a:prstGeom>
          <a:solidFill>
            <a:srgbClr val="181818"/>
          </a:solidFill>
          <a:ln w="1270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3108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800" b="1">
                <a:solidFill>
                  <a:srgbClr val="1DB954"/>
                </a:solidFill>
              </a:defRPr>
            </a:pPr>
            <a:r>
              <a:t>1. Technical Drivers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</a:defRPr>
            </a:pPr>
            <a:r>
              <a:t>• Collaborative Filtering Lock-in: Matrix factorization treats historical listens as permanent preference, trapping user vectors in tight local sub-clusters.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</a:defRPr>
            </a:pPr>
            <a:r>
              <a:t>• Shuffle Optimization: Uses local caching and affinity bias instead of true randomness to reduce streaming server requests.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645920"/>
            <a:ext cx="3474720" cy="4389120"/>
          </a:xfrm>
          <a:prstGeom prst="roundRect">
            <a:avLst/>
          </a:prstGeom>
          <a:solidFill>
            <a:srgbClr val="181818"/>
          </a:solidFill>
          <a:ln w="1270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920240"/>
            <a:ext cx="3108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800" b="1">
                <a:solidFill>
                  <a:srgbClr val="FFFFFF"/>
                </a:solidFill>
              </a:defRPr>
            </a:pPr>
            <a:r>
              <a:t>2. UX / Design Drivers</a:t>
            </a:r>
          </a:p>
          <a:p>
            <a:pPr>
              <a:spcAft>
                <a:spcPts val="1000"/>
              </a:spcAft>
              <a:defRPr sz="1400">
                <a:solidFill>
                  <a:srgbClr val="B3B3B3"/>
                </a:solidFill>
              </a:defRPr>
            </a:pPr>
            <a:r>
              <a:t>• The Black-Box Interface: Recommendations offer zero sliders to modify the novelty vs. familiarity ratio.</a:t>
            </a:r>
          </a:p>
          <a:p>
            <a:pPr>
              <a:spcAft>
                <a:spcPts val="1000"/>
              </a:spcAft>
              <a:defRPr sz="1400">
                <a:solidFill>
                  <a:srgbClr val="B3B3B3"/>
                </a:solidFill>
              </a:defRPr>
            </a:pPr>
            <a:r>
              <a:t>• Home Screen Clutter: High-visibility rows are loaded with podcasts and audiobooks, increasing search cost and driving users to loop downloaded tracks.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645920"/>
            <a:ext cx="3474720" cy="4389120"/>
          </a:xfrm>
          <a:prstGeom prst="roundRect">
            <a:avLst/>
          </a:prstGeom>
          <a:solidFill>
            <a:srgbClr val="181818"/>
          </a:solidFill>
          <a:ln w="1270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1920240"/>
            <a:ext cx="3108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800" b="1">
                <a:solidFill>
                  <a:srgbClr val="FFFFFF"/>
                </a:solidFill>
              </a:defRPr>
            </a:pPr>
            <a:r>
              <a:t>3. Commercial Drivers</a:t>
            </a:r>
          </a:p>
          <a:p>
            <a:pPr>
              <a:spcAft>
                <a:spcPts val="1000"/>
              </a:spcAft>
              <a:defRPr sz="1400">
                <a:solidFill>
                  <a:srgbClr val="B3B3B3"/>
                </a:solidFill>
              </a:defRPr>
            </a:pPr>
            <a:r>
              <a:t>• Label Payola placements: Smart Shuffle algorithms boost sponsored releases via marketing distribution deals.</a:t>
            </a:r>
          </a:p>
          <a:p>
            <a:pPr>
              <a:spcAft>
                <a:spcPts val="1000"/>
              </a:spcAft>
              <a:defRPr sz="1400">
                <a:solidFill>
                  <a:srgbClr val="B3B3B3"/>
                </a:solidFill>
              </a:defRPr>
            </a:pPr>
            <a:r>
              <a:t>• Royalty Cost Structure: Heavy streaming of major-label pop catalog incurs high licensing margins, disincentivizing organic long-tail discovery.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2"/>
          </a:solidFill>
          <a:ln>
            <a:solidFill>
              <a:srgbClr val="121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Outfit"/>
              </a:defRPr>
            </a:pPr>
            <a:r>
              <a:t>Retaining Bored Subscribers and Shifting Stream-Share Optimizes Gross Margins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371600" cy="36576"/>
          </a:xfrm>
          <a:prstGeom prst="rect">
            <a:avLst/>
          </a:prstGeom>
          <a:solidFill>
            <a:srgbClr val="1DB954"/>
          </a:solidFill>
          <a:ln>
            <a:solidFill>
              <a:srgbClr val="1DB9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5394960" cy="2103120"/>
          </a:xfrm>
          <a:prstGeom prst="roundRect">
            <a:avLst/>
          </a:prstGeom>
          <a:solidFill>
            <a:srgbClr val="181818"/>
          </a:solidFill>
          <a:ln w="1270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1DB954"/>
                </a:solidFill>
              </a:defRPr>
            </a:pPr>
            <a:r>
              <a:t>Protecting Premium Churn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Aesthetic fatigue is a top reason premium users churn. Reducing monthly subscriber churn by 0.1% across 240M premium users yields a run-rate increase of ~$34.5 Million in Annual Recurring Revenue (ARR).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394960" cy="2103120"/>
          </a:xfrm>
          <a:prstGeom prst="roundRect">
            <a:avLst/>
          </a:prstGeom>
          <a:solidFill>
            <a:srgbClr val="181818"/>
          </a:solidFill>
          <a:ln w="1270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82880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FFFFFF"/>
                </a:solidFill>
              </a:defRPr>
            </a:pPr>
            <a:r>
              <a:t>Content Royalty Optimization</a:t>
            </a:r>
          </a:p>
          <a:p>
            <a:pPr>
              <a:defRPr sz="1400">
                <a:solidFill>
                  <a:srgbClr val="B3B3B3"/>
                </a:solidFill>
              </a:defRPr>
            </a:pPr>
            <a:r>
              <a:t>Streaming major-label pop hits carries expensive minimum payout thresholds. Distributing 400 bps of stream share to independent, long-tail artists via niche discovery features improves Spotify's gross margins on content licensing.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114800"/>
            <a:ext cx="11277295" cy="1920240"/>
          </a:xfrm>
          <a:prstGeom prst="roundRect">
            <a:avLst/>
          </a:prstGeom>
          <a:solidFill>
            <a:srgbClr val="181818"/>
          </a:solidFill>
          <a:ln w="1270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297680"/>
            <a:ext cx="1072865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FFFF"/>
                </a:solidFill>
              </a:defRPr>
            </a:pPr>
            <a:r>
              <a:t>The Strategic Loop: Trust, Engagement, and Virality</a:t>
            </a:r>
          </a:p>
          <a:p>
            <a:pPr>
              <a:spcAft>
                <a:spcPts val="500"/>
              </a:spcAft>
              <a:defRPr sz="1400">
                <a:solidFill>
                  <a:srgbClr val="B3B3B3"/>
                </a:solidFill>
              </a:defRPr>
            </a:pPr>
            <a:r>
              <a:t>• Restoring Recommendation Trust: Showing users why songs are recommended stops them from turning to Bandcamp or SoundCloud.</a:t>
            </a:r>
          </a:p>
          <a:p>
            <a:pPr>
              <a:spcAft>
                <a:spcPts val="500"/>
              </a:spcAft>
              <a:defRPr sz="1400">
                <a:solidFill>
                  <a:srgbClr val="B3B3B3"/>
                </a:solidFill>
              </a:defRPr>
            </a:pPr>
            <a:r>
              <a:t>• Organic Growth Loop: Listeners who discover obscure local talent share tracks on social platforms, creating a low-cost organic acquisition engine.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2"/>
          </a:solidFill>
          <a:ln>
            <a:solidFill>
              <a:srgbClr val="121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Outfit"/>
              </a:defRPr>
            </a:pPr>
            <a:r>
              <a:t>Generative AI Unlocks Semantic Matching and Multi-Constraint Controls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371600" cy="36576"/>
          </a:xfrm>
          <a:prstGeom prst="rect">
            <a:avLst/>
          </a:prstGeom>
          <a:solidFill>
            <a:srgbClr val="1DB954"/>
          </a:solidFill>
          <a:ln>
            <a:solidFill>
              <a:srgbClr val="1DB9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5394960" cy="4389120"/>
          </a:xfrm>
          <a:prstGeom prst="roundRect">
            <a:avLst/>
          </a:prstGeom>
          <a:solidFill>
            <a:srgbClr val="181818"/>
          </a:solidFill>
          <a:ln w="1270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800" b="1">
                <a:solidFill>
                  <a:srgbClr val="B3B3B3"/>
                </a:solidFill>
              </a:defRPr>
            </a:pPr>
            <a:r>
              <a:t>Traditional Recommender Systems</a:t>
            </a:r>
          </a:p>
          <a:p>
            <a:pPr>
              <a:spcAft>
                <a:spcPts val="1000"/>
              </a:spcAft>
              <a:defRPr sz="1400">
                <a:solidFill>
                  <a:srgbClr val="B3B3B3"/>
                </a:solidFill>
              </a:defRPr>
            </a:pPr>
            <a:r>
              <a:t>•  Vector Correlation Bubble: CF matches user profile lookalikes. Recommends songs similar listeners heard, leading to high repetition.</a:t>
            </a:r>
          </a:p>
          <a:p>
            <a:pPr>
              <a:spcAft>
                <a:spcPts val="1000"/>
              </a:spcAft>
              <a:defRPr sz="1400">
                <a:solidFill>
                  <a:srgbClr val="B3B3B3"/>
                </a:solidFill>
              </a:defRPr>
            </a:pPr>
            <a:r>
              <a:t>•  Keyword Restrictions: Search requires hard metadata matches. Fails on abstract searches (e.g. 'moody synth for rainy night in Paris').</a:t>
            </a:r>
          </a:p>
          <a:p>
            <a:pPr>
              <a:spcAft>
                <a:spcPts val="1000"/>
              </a:spcAft>
              <a:defRPr sz="1400">
                <a:solidFill>
                  <a:srgbClr val="B3B3B3"/>
                </a:solidFill>
              </a:defRPr>
            </a:pPr>
            <a:r>
              <a:t>•  Black-Box Placement: Recommendations are static queues. No user knobs to scale novelty or filter label commercial content.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394960" cy="4389120"/>
          </a:xfrm>
          <a:prstGeom prst="roundRect">
            <a:avLst/>
          </a:prstGeom>
          <a:solidFill>
            <a:srgbClr val="181818"/>
          </a:solidFill>
          <a:ln w="1270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92024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800" b="1">
                <a:solidFill>
                  <a:srgbClr val="1DB954"/>
                </a:solidFill>
              </a:defRPr>
            </a:pPr>
            <a:r>
              <a:t>AI-Native Co-Pilot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</a:defRPr>
            </a:pPr>
            <a:r>
              <a:t>•  Semantic Search Mapping: Multi-dimensional embedding maps abstract vibe descriptions to sonic profiles containing detailed texture descriptions.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</a:defRPr>
            </a:pPr>
            <a:r>
              <a:t>•  Multi-Constraint Reasoning: Interprets natural language vibe + novelty dial + Niche Boost settings simultaneously to build custom play queues.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</a:defRPr>
            </a:pPr>
            <a:r>
              <a:t>•  Transparent Rationales: Explains exactly why each track is recommended, restoring user trust and encouraging exploration.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2"/>
          </a:solidFill>
          <a:ln>
            <a:solidFill>
              <a:srgbClr val="121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Outfit"/>
              </a:defRPr>
            </a:pPr>
            <a:r>
              <a:t>The AI-Powered Review Analysis Engine Ingests, Normalizes, and Summarizes Feedback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371600" cy="36576"/>
          </a:xfrm>
          <a:prstGeom prst="rect">
            <a:avLst/>
          </a:prstGeom>
          <a:solidFill>
            <a:srgbClr val="1DB954"/>
          </a:solidFill>
          <a:ln>
            <a:solidFill>
              <a:srgbClr val="1DB9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5394960" cy="4389120"/>
          </a:xfrm>
          <a:prstGeom prst="roundRect">
            <a:avLst/>
          </a:prstGeom>
          <a:solidFill>
            <a:srgbClr val="181818"/>
          </a:solidFill>
          <a:ln w="1270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800" b="1">
                <a:solidFill>
                  <a:srgbClr val="1DB954"/>
                </a:solidFill>
              </a:defRPr>
            </a:pPr>
            <a:r>
              <a:t>Review Analysis Workflow (PM tool)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</a:defRPr>
            </a:pPr>
            <a:r>
              <a:t>1. Scraping Engines: Automated scripts scrape App Store and Google Play reviews, filtering for feedback within the last 12 months.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</a:defRPr>
            </a:pPr>
            <a:r>
              <a:t>2. Normalizer Module: Deduplicates reviews, aligns schemas, and removes entries under 10 characters to filter out noise.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</a:defRPr>
            </a:pPr>
            <a:r>
              <a:t>3. LLM Pipeline: Feeds normalized reviews to Gemini with structured PM prompts to cluster themes, personas, and JTBDs.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</a:defRPr>
            </a:pPr>
            <a:r>
              <a:t>4. Ask the Reviews Chat: Integrates a Q&amp;A chatbot allowing product managers to query the feedback database in plain language.</a:t>
            </a:r>
          </a:p>
          <a:p>
            <a:pPr>
              <a:spcBef>
                <a:spcPts val="1500"/>
              </a:spcBef>
              <a:defRPr sz="1400">
                <a:solidFill>
                  <a:srgbClr val="FFFFFF"/>
                </a:solidFill>
              </a:defRPr>
            </a:pPr>
            <a:r>
              <a:t>Test out the Workflow: </a:t>
            </a:r>
            <a:r>
              <a:rPr sz="1400" b="1">
                <a:solidFill>
                  <a:srgbClr val="1DB954"/>
                </a:solidFill>
                <a:hlinkClick r:id="rId2"/>
              </a:rPr>
              <a:t>PM Review Dashboard (Port 8501)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394960" cy="4389120"/>
          </a:xfrm>
          <a:prstGeom prst="roundRect">
            <a:avLst/>
          </a:prstGeom>
          <a:solidFill>
            <a:srgbClr val="181818"/>
          </a:solidFill>
          <a:ln w="1270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m_discovery_engine_loaded_178314274736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828800"/>
            <a:ext cx="502920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2"/>
          </a:solidFill>
          <a:ln>
            <a:solidFill>
              <a:srgbClr val="121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Outfit"/>
              </a:defRPr>
            </a:pPr>
            <a:r>
              <a:t>Our Live Standalone Co-Pilot MVP Empowers Active Novelty Tuning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371600" cy="36576"/>
          </a:xfrm>
          <a:prstGeom prst="rect">
            <a:avLst/>
          </a:prstGeom>
          <a:solidFill>
            <a:srgbClr val="1DB954"/>
          </a:solidFill>
          <a:ln>
            <a:solidFill>
              <a:srgbClr val="1DB9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5394960" cy="4389120"/>
          </a:xfrm>
          <a:prstGeom prst="roundRect">
            <a:avLst/>
          </a:prstGeom>
          <a:solidFill>
            <a:srgbClr val="181818"/>
          </a:solidFill>
          <a:ln w="1270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800" b="1">
                <a:solidFill>
                  <a:srgbClr val="1DB954"/>
                </a:solidFill>
              </a:defRPr>
            </a:pPr>
            <a:r>
              <a:t>Co-Pilot Interactive Tuning Features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</a:defRPr>
            </a:pPr>
            <a:r>
              <a:t>• Vibe Description Input: Users describe a mental state or scene. LLM handles semantic cross-references against track details.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</a:defRPr>
            </a:pPr>
            <a:r>
              <a:t>• Discovery Intensity Slider: Select 0% for familiar hits, 50% for balanced mixes, or 100% to explore highly obscure independent music.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</a:defRPr>
            </a:pPr>
            <a:r>
              <a:t>• Niche Boost Switch: Active filter that prioritizes independent releases (&lt; 65 popularity index) over commercial pop.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</a:defRPr>
            </a:pPr>
            <a:r>
              <a:t>• Transparent Explanations: Each track displays an explanation detailing how its tempo, rhythm, or instruments fit the vibe.</a:t>
            </a:r>
          </a:p>
          <a:p>
            <a:pPr>
              <a:spcBef>
                <a:spcPts val="1000"/>
              </a:spcBef>
              <a:defRPr sz="1400">
                <a:solidFill>
                  <a:srgbClr val="FFFFFF"/>
                </a:solidFill>
              </a:defRPr>
            </a:pPr>
            <a:r>
              <a:t>Play with the Live Prototype: </a:t>
            </a:r>
            <a:r>
              <a:rPr sz="1400" b="1">
                <a:solidFill>
                  <a:srgbClr val="1DB954"/>
                </a:solidFill>
                <a:hlinkClick r:id="rId2"/>
              </a:rPr>
              <a:t>Discovery Co-Pilot (Port 8502)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394960" cy="4389120"/>
          </a:xfrm>
          <a:prstGeom prst="roundRect">
            <a:avLst/>
          </a:prstGeom>
          <a:solidFill>
            <a:srgbClr val="181818"/>
          </a:solidFill>
          <a:ln w="1270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discovery_queue_results_178314123048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828800"/>
            <a:ext cx="502920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2"/>
          </a:solidFill>
          <a:ln>
            <a:solidFill>
              <a:srgbClr val="121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Outfit"/>
              </a:defRPr>
            </a:pPr>
            <a:r>
              <a:t>We Will Measure the Stream Diversity Index to Validate Retention Impact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371600" cy="36576"/>
          </a:xfrm>
          <a:prstGeom prst="rect">
            <a:avLst/>
          </a:prstGeom>
          <a:solidFill>
            <a:srgbClr val="1DB954"/>
          </a:solidFill>
          <a:ln>
            <a:solidFill>
              <a:srgbClr val="1DB9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5394960" cy="4389120"/>
          </a:xfrm>
          <a:prstGeom prst="roundRect">
            <a:avLst/>
          </a:prstGeom>
          <a:solidFill>
            <a:srgbClr val="181818"/>
          </a:solidFill>
          <a:ln w="1270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800" b="1">
                <a:solidFill>
                  <a:srgbClr val="1DB954"/>
                </a:solidFill>
              </a:defRPr>
            </a:pPr>
            <a:r>
              <a:t>Key Metrics for Success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</a:defRPr>
            </a:pPr>
            <a:r>
              <a:t>• Stream Diversity Index (North Star): Gini coefficient of artists played per user over a 30-day period. Target: Reduce Gini concentration by 15% (more equal share).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</a:defRPr>
            </a:pPr>
            <a:r>
              <a:t>• Recommendation Save Rate: Percentage of recommended tracks saved to 'Liked Songs' or custom playlists. Target: Increase from ~3% to 8%.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</a:defRPr>
            </a:pPr>
            <a:r>
              <a:t>• Discovery Share of Streams: Percentage of total streams coming from co-pilot queue vs. user library. Target: 35%.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</a:defRPr>
            </a:pPr>
            <a:r>
              <a:t>• Churn Mitigation: 5% churn reduction among target cohort.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394960" cy="4389120"/>
          </a:xfrm>
          <a:prstGeom prst="roundRect">
            <a:avLst/>
          </a:prstGeom>
          <a:solidFill>
            <a:srgbClr val="181818"/>
          </a:solidFill>
          <a:ln w="1270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92024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800" b="1">
                <a:solidFill>
                  <a:srgbClr val="FFFFFF"/>
                </a:solidFill>
              </a:defRPr>
            </a:pPr>
            <a:r>
              <a:t>Deployment &amp; Roll-out Strategy</a:t>
            </a:r>
          </a:p>
          <a:p>
            <a:pPr>
              <a:spcAft>
                <a:spcPts val="800"/>
              </a:spcAft>
              <a:defRPr sz="1400">
                <a:solidFill>
                  <a:srgbClr val="B3B3B3"/>
                </a:solidFill>
              </a:defRPr>
            </a:pPr>
            <a:r>
              <a:t>• Phase 1: A/B Testing (Weeks 1-4)</a:t>
            </a:r>
            <a:br/>
            <a:r>
              <a:t>Deploy Co-Pilot to a 5% cohort of premium subscribers exhibiting high boredom signals (declining listening hours, repeated skips).</a:t>
            </a:r>
          </a:p>
          <a:p>
            <a:pPr>
              <a:spcAft>
                <a:spcPts val="800"/>
              </a:spcAft>
              <a:defRPr sz="1400">
                <a:solidFill>
                  <a:srgbClr val="B3B3B3"/>
                </a:solidFill>
              </a:defRPr>
            </a:pPr>
            <a:r>
              <a:t>• Phase 2: Regional Alpha (Weeks 5-8)</a:t>
            </a:r>
            <a:br/>
            <a:r>
              <a:t>Expand release to a specific region (e.g. US West or India) to test server/LLM latency, embedding API costs, and load capacity.</a:t>
            </a:r>
          </a:p>
          <a:p>
            <a:pPr>
              <a:spcAft>
                <a:spcPts val="800"/>
              </a:spcAft>
              <a:defRPr sz="1400">
                <a:solidFill>
                  <a:srgbClr val="B3B3B3"/>
                </a:solidFill>
              </a:defRPr>
            </a:pPr>
            <a:r>
              <a:t>• Phase 3: Global Beta Integration (Week 9+)</a:t>
            </a:r>
            <a:br/>
            <a:r>
              <a:t>Merge controls directly under the standard 'Search' or 'AI DJ' feed, replacing Smart Shuffle entirely.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